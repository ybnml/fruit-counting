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B5C"/>
                </a:solidFill>
              </a:rPr>
              <a:t>PseCo 기반 과일 카운팅:
CLIP 정렬 분류기에 대한 사례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6B6B6B"/>
                </a:solidFill>
              </a:rPr>
              <a:t>네 번의 학습·진단·프로덕션 이터레이션에서 얻은 이론적 배경과 핵심 인사이트 — 과수원 이미지 기반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6B6B6B"/>
                </a:solidFill>
              </a:rPr>
              <a:t>내부 연구 노트 · 2026-04-22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6B6B"/>
                </a:solidFill>
              </a:rPr>
              <a:t>Part 1</a:t>
            </a:r>
          </a:p>
          <a:p>
            <a:r>
              <a:rPr sz="3600" b="1">
                <a:solidFill>
                  <a:srgbClr val="1F3B5C"/>
                </a:solidFill>
              </a:rPr>
              <a:t>문제 · 아키텍처 · 이론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목표: 배포 카메라로 촬영한 과수원 이미지에서 보호 봉지 씌운 과일의 개수를 셈.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원본 파이프라인: 5단계 구성 (Deblur → PseCo → Super-Resolution → Classifier → Defect).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각 단계는 외부 모델의 얇은 래퍼였고, 추론 전용 — 학습 코드 없음.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자체 과수원 라벨 없음, 체계적 평가 없음.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우리 과제: 전면 재설계 + 학습 코드 추가 + 실제 과수원 이미지로 검증.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연구 질문: 오픈월드 카운팅 모델을 일반성을 잃지 않고 도메인에 적응시킬 수 있는가?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6B6B6B"/>
                </a:solidFill>
              </a:rPr>
              <a:t>스펙: docs/superpowers/specs/2026-04-19-fruit-counting-redesign-design.md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이론적 구성 요소 (1/3) — SAM (Segment Anything Model)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Meta AI, 2023 — 클래스 무관 세그멘테이션 파운데이션 모델.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ViT-H 이미지 인코더: 1024×1024 입력 → (256, 64, 64) 피처 맵.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프롬프트 기반 마스크 디코더: 점 / 박스 / 텍스트 프롬프트 수용.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10억 개 이상 마스크(SA-1B)로 학습 — 미지 도메인에서도 강한 일반화.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카운팅에서의 역할: 후보 점이 주어지면 SAM이 해당 객체의 제안(proposal)을 생성.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`forward_sam_with_embeddings(features, points=...)` — 점당 k=5개의 가능한 마스크 반환.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anchor box(점 ± half_side)로 마스크 가설을 정제.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핵심 성질: SAM은 "그것이 무엇인지"는 모르고, "객체스러운 덩어리"의 위치만 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이론적 구성 요소 (2/3) — CLIP 텍스트 정렬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OpenAI, 2021 — 4억 (이미지, 캡션) 페어로 이미지·텍스트 인코더를 공동 학습.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텍스트 인코더: 클래스 이름 → 512-d 임베딩 (ViT-B/32 백본 기준).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이미지 인코더: 크롭을 동일한 512-d 공간에 매핑.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공유 공간에서의 코사인 유사도로 zero-shot 분류.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PseCo에서의 역할: ROIHeadMLP의 512-d 출력을 CLIP 텍스트 피처와 비교해 분류.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dot(ROI_feature, text_feature) → 점수. 높을수록 클래스 이름과 매칭.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미묘한 지점: OpenAI CLIP 가중치는 QuickGELU 활성화로 학습됨 (표준 GELU 아님).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`open_clip.create_model('ViT-B-32')` 기본값은 표준 GELU → 텍스트 피처가 조용히 drift.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반드시 `'ViT-B-32-quickgelu'` 변형을 써야 함 — Plan 3에서 이것을 놓쳐 큰 대가를 치름.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이론적 구성 요소 (3/3) — PseCo 파이프라인 (ICLR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"Point, Segment, and Count" (Huang et al., 2024).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캐시된 SAM 피처 위에서 3단계 추론: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PointDecoder: dense heatmap → top-K 후보 점 (자체 NMS 적용).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SAM을 proposal 생성기로 사용: 각 점에 대해 5개의 마스크·박스 가설 제안.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ROIHeadMLP + CLIP: 각 (영역, 텍스트) 쌍을 점수화 → NMS → threshold.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카운팅에 효과적인 이유: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클래스 무관한 SAM이 과수원 같은 새 도메인을 인코더 재학습 없이 커버.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텍스트 프롬프트가 "셀 대상"을 지정 — "apples" → "bread rolls" 전환 시 재학습 불필요.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분리 구조: 위치 추정(SAM+PointDecoder)은 공유, 분류(MLP+CLIP)는 교체 가능.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Upstream 학습 목표: pseudo-box IoU에 대한 BCE + CLIP 일관성 손실(정렬 유지용).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6B6B6B"/>
                </a:solidFill>
              </a:rPr>
              <a:t>github.com/Hzzone/PseCo — FSC-147 test split에서 MAE 16–20 보고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6B6B"/>
                </a:solidFill>
              </a:rPr>
              <a:t>Part 2</a:t>
            </a:r>
          </a:p>
          <a:p>
            <a:r>
              <a:rPr sz="3600" b="1">
                <a:solidFill>
                  <a:srgbClr val="1F3B5C"/>
                </a:solidFill>
              </a:rPr>
              <a:t>FSC-147 + 과수원 위에서의 네 번의 이터레이션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우리의 Plan 타임라인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Plan 1 (Foundation): 스캐폴드, CLI, 설정, 데이터 진단. 학습 없음.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2 (학습 인프라): SAM 피처 캐시 (FSC-147 4945장의 fp16 임베딩 8.7 GB), Runner, TensorBoard, 체크포인트. Placeholder objective.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3 (첫 실제 파인튜닝): CLIP 텍스트 프롬프트 + 점-박스 포함 기반 pos/neg 레이블.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발견한 버그 3종: CUDA device mismatch, 좌표계 mismatch, QuickGELU 변형 mismatch.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K=32 proposal로 FSC-147 val/mae = 47.62 달성. "predict-zero" baseline 50.58 돌파.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이 시점에서는 성공처럼 보였음.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4 (과수원 실전 검증): 직접 센 과수원 이미지 4장이 Plan 3의 숨은 실패를 드러냄.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파인튜닝 포기 → upstream MLP + 프롬프트 엔지니어링 + SAM anchor 튜닝으로 피봇.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최종 과수원 MAE 11.75 — 파인튜닝 없이 달성.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이터레이션별 수치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468880"/>
                <a:gridCol w="3108960"/>
              </a:tblGrid>
              <a:tr h="462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버전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FSC-147 val/mae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과수원 MAE (4장)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교훈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2 (placeholder)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50.58 (축퇴)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항상 0만 예측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3 v1 (no fix)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62.90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좌표계 버그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3 v2 (+ QuickGELU)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62.79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미미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3 v3 (+ 좌표 수정)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54.26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좌표 수정이 지배적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3 v4 (K=32)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47.62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400+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프로덕션에서 prompt-agnostic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4 upstream MLP (기본)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14.25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학습 0, 충분히 경쟁적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4 + threshold 튜닝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13.50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그리드 서치 소폭 개선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Plan 4 + anchor_size=24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11.75 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스케일이 핵심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6B6B"/>
                </a:solidFill>
              </a:rPr>
              <a:t>Part 3</a:t>
            </a:r>
          </a:p>
          <a:p>
            <a:r>
              <a:rPr sz="3600" b="1">
                <a:solidFill>
                  <a:srgbClr val="1F3B5C"/>
                </a:solidFill>
              </a:rPr>
              <a:t>실패 모드에서 얻은 인사이트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인사이트 1 — "Predict Zero"는 기만적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카운팅 데이터셋에서 모든 이미지에 0 예측 시 MAE = E[GT count].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FSC-147 val 기준 평균 GT 개수 ≈ 50.58.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Plan 2의 placeholder 트레이너가 매 에폭 `val/mae = 50.58`을 유지.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순진한 해석: "자명하지 않은 손실에서 정체". 실제로는 모델이 붕괴한 상태.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3의 `val/mae = 47.62` — zero-prediction 대비 겨우 한 자릿수 개선.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처음에는 baseline 돌파로 축하했지만, 사실상 여전히 zero-prediction 오차의 93% 수준.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연구적 함의: 카운팅에서는 predict-zero와 predict-mean 두 기준선을 모두 리포트해야 함.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predict-zero를 이기지만 predict-mean을 못 이기면, 단순히 데이터셋 평균을 학습한 것일 수 있음.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수렴 지표는 이 자명한 기준선을 명시적으로 차감한 형태여야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인사이트 2 — CLIP 정렬은 순진한 파인튜닝에 취약함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Plan 3 학습: 이미지당 하나의 클래스, proposal의 (pos/neg) 레이블에 대한 binary cross-entropy.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결과: 파인튜닝된 MLP가 프롬프트에 무감각해짐.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같은 사과 이미지에서 `apples`, `apple in paper bag`, `protective fruit bag` 모두 ~500개 예측.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Upstream MLP는 동일 이미지에서 6 / 25 / 8로 프롬프트를 구분.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메커니즘: 단일 클래스 binary CE 기울기는 "시각 특징이 pos/neg"만 학습, 텍스트 정렬 신호는 무시됨.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그래디언트가 'CLIP 텍스트 일치/불일치'를 한 번도 처벌하지 않음.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Pretrained의 CLIP 정렬이 파인튜닝 동안 서서히 decay.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Upstream PseCo는 보조 CLIP 일관성 손실(`cls_loss2`)을 씀 — 우리는 생략했고 결과는 위와 같음.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연구 질문: 파인튜닝 동안 CLIP 정렬 손실을 정량화해 조기 중단 기준으로 쓸 수 있는가?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후보 지표: 고정된 triplet (이미지, 정답 클래스, 오답 클래스)에 대한 prompt-discrimination 점수.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인사이트 3 — 좌표계 버그가 학습을 조용히 낭비시킴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Plan 3의 레이블은 FSC-147 점 어노테이션(원본 이미지 좌표계, 긴 변 384 px) 기반.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PointDecoder 예측은 SAM의 1024-px padding 좌표계.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점-박스 포함 체크가 두 좌표계를 같은 프레임으로 가정해 비교.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포함 판정이 거의 일어나지 않음 → 대부분 proposal이 negative로 분류.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증상: 학습 loss는 내려감 (모두 negative라고 답하면 쉬움), val/mae는 62-63에서 정체.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문제를 "쉽게 학습 가능하게 만들어서 loss를 줄이는" 버그.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수정: GT 점을 `1024 / max(H, W)` 배로 1024 공간에 스케일링. 한 커밋으로 val/mae 62.79 → 54.26.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연구·엔지니어링 교훈: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멀티모듈 파이프라인은 좌표 프레임을 조용히 섞음. 프레임 일치를 주장하는 단일 테스트를 써야 함.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"loss가 내려감" 자체는 절대로 정확성의 증거가 아님.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인사이트 4 — QuickGELU vs GELU: 활성화 0.3% 차이, 의미 100%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OpenAI의 원본 CLIP은 QuickGELU로 학습됨: `x * sigmoid(1.702 * x)`.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`open_clip.create_model('ViT-B-32', pretrained='openai')` 기본값은 표준 GELU.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텍스트 임베딩은 L2 기준 ~2%만 바뀜.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하지만 QuickGELU 임베딩 위에서 학습된 MLP 헤드와 스펙이 맞지 않게 됨.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Upstream PseCo `MLP_small_box_w1_zeroshot.tar` 은 QuickGELU CLIP 피처로 학습됨.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우리는 경고를 놓친 채 표준-GELU 피처로 2번의 학습 런을 돌림.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이 수정만으로 CLIP 정렬을 회복하진 못했지만(인사이트 2 참조), 필요조건임.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연구·엔지니어링 교훈: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사전학습 모델의 activation variant 태그는 semver-breaking으로 취급해야 함. 체크포인트 메타에 명시.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인사이트 5 — SAM anchor size는 객체 스케일에 맞아야 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PseCo 추론은 anchor box(점 ± half_side)를 SAM의 box-refinement 헤드 프롬프트로 사용.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Upstream demo: 1024-padding 입력에서 anchor_size = 8 (약 8 px half-side, ~16 px full side).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FSC-147에는 적합 (이미지 긴 변 384 px, 객체 ~10–30 px).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폰으로 찍은 과수원 사진(1024 공간에서 객체 ~80–120 px)에서는 작음.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anchor_size ∈ {4, 8, 12, 16, 24, 32} 그리드 서치: 사과 검출 수가 ~24까지 단조 증가.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apple_1 (GT 48): anchor 8→24 변경 시 예측 22 → 28.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배(상대적으로 작음)는 변화 없음.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SAM이 스케일에 민감한 이유: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SAM은 객체 INSIDE 프롬프트에서 segment하도록 학습됨. 작은 anchor도 사과 내부에 있지만, 마스크 디코더의 best 가설이 anchor 스케일을 따라감.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연구 질문: 스케일 적응형 anchor 앙상블? 다중 스케일 투표?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인사이트 6 — 정렬을 깨뜨리는 파인튜닝보다 프롬프트 엔지니어링이 강할 수 있음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과수원 이미지에서 upstream MLP의 프롬프트별 MAE: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`pears` → 35.0 · `pear in paper bag` → 6.0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`apples` → 42.5 · `apple in paper bag` → 22.5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`protective fruit bag` → 40.0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배에서 세 단어의 프롬프트 변경이 MAE 약 30을 줄임. 재학습 필요 없음.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메커니즘: CLIP 텍스트 인코더가 조합적 의미(과일 종류 × 포장 맥락)를 포착.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"apple in paper bag" — 사과 클러스터 + 포장 맥락을 동시 활성화.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"apples" 단독은 사과 클러스터만 활성화 — 덜 구체적 → 넓은 장면에서 과잉 검출.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함의: 클래스 무관 카운팅 파이프라인에서는 파인튜닝이 아니라 프롬프트 서치를 FIRST 개입으로.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파인튜닝은 CLIP 정렬 손실 위험. 프롬프트 서치는 공짜이고 가역적.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B6B6B"/>
                </a:solidFill>
              </a:rPr>
              <a:t>Part 4</a:t>
            </a:r>
          </a:p>
          <a:p>
            <a:r>
              <a:rPr sz="3600" b="1">
                <a:solidFill>
                  <a:srgbClr val="1F3B5C"/>
                </a:solidFill>
              </a:rPr>
              <a:t>열린 질문 · 향후 연구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이번 이터레이션에서 답하지 못한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2562D"/>
                </a:solidFill>
              </a:rPr>
              <a:t>데이터 의존적</a:t>
            </a:r>
          </a:p>
          <a:p>
            <a:pPr/>
            <a:r>
              <a:rPr sz="1400">
                <a:solidFill>
                  <a:srgbClr val="2A2A2A"/>
                </a:solidFill>
              </a:rPr>
              <a:t>• 봉지 과일 실제 이미지에서 우리 기본 파이프라인의 실제 성능은?</a:t>
            </a:r>
          </a:p>
          <a:p>
            <a:pPr lvl="1"/>
            <a:r>
              <a:rPr sz="1200">
                <a:solidFill>
                  <a:srgbClr val="6B6B6B"/>
                </a:solidFill>
              </a:rPr>
              <a:t>– 우리가 받은 captures는 모두 흰 픽셀(255)로 비어 있었음.</a:t>
            </a:r>
          </a:p>
          <a:p>
            <a:pPr/>
            <a:r>
              <a:rPr sz="1400">
                <a:solidFill>
                  <a:srgbClr val="2A2A2A"/>
                </a:solidFill>
              </a:rPr>
              <a:t>• 도메인 라벨 없음. 50장 정도 수동 카운팅하면 정상적 MAE 곡선 가능.</a:t>
            </a:r>
          </a:p>
          <a:p>
            <a:pPr/>
            <a:r>
              <a:rPr sz="1400">
                <a:solidFill>
                  <a:srgbClr val="2A2A2A"/>
                </a:solidFill>
              </a:rPr>
              <a:t>• 남은 사과 undercount (GT ~47, pred ~30)는 SAM 스케일 문제인가, CLIP 의미 문제인가?</a:t>
            </a:r>
          </a:p>
          <a:p>
            <a:pPr lvl="1"/>
            <a:r>
              <a:rPr sz="1200">
                <a:solidFill>
                  <a:srgbClr val="6B6B6B"/>
                </a:solidFill>
              </a:rPr>
              <a:t>– 다중 스케일 anchor 앙상블 ablation 필요.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2562D"/>
                </a:solidFill>
              </a:rPr>
              <a:t>이론 의존적</a:t>
            </a:r>
          </a:p>
          <a:p>
            <a:pPr/>
            <a:r>
              <a:rPr sz="1400">
                <a:solidFill>
                  <a:srgbClr val="2A2A2A"/>
                </a:solidFill>
              </a:rPr>
              <a:t>• 단일 보조 손실로 파인튜닝 중 CLIP 정렬을 유지할 수 있는가?</a:t>
            </a:r>
          </a:p>
          <a:p>
            <a:pPr lvl="1"/>
            <a:r>
              <a:rPr sz="1200">
                <a:solidFill>
                  <a:srgbClr val="6B6B6B"/>
                </a:solidFill>
              </a:rPr>
              <a:t>– PseCo의 `cls_loss2`는 후보 — 별도 배치에서 CLIP-검출 region에 대한 일관성 항.</a:t>
            </a:r>
          </a:p>
          <a:p>
            <a:pPr lvl="1"/>
            <a:r>
              <a:rPr sz="1200">
                <a:solidFill>
                  <a:srgbClr val="6B6B6B"/>
                </a:solidFill>
              </a:rPr>
              <a:t>– 더 단순한 text-prompt-discrimination 손실로 대체 가능할까?</a:t>
            </a:r>
          </a:p>
          <a:p>
            <a:pPr/>
            <a:r>
              <a:rPr sz="1400">
                <a:solidFill>
                  <a:srgbClr val="2A2A2A"/>
                </a:solidFill>
              </a:rPr>
              <a:t>• 스케일 적응형 proposal 생성 — 현재는 도메인별 수동 anchor 튜닝.</a:t>
            </a:r>
          </a:p>
          <a:p>
            <a:pPr/>
            <a:r>
              <a:rPr sz="1400">
                <a:solidFill>
                  <a:srgbClr val="2A2A2A"/>
                </a:solidFill>
              </a:rPr>
              <a:t>• "파인튜닝 후에도 CLIP 정렬 유지"를 측정하는 원리적 지표는 무엇인가?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권장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Direction A — 정렬 보존 파인튜닝.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PseCo의 `cls_loss2` (CLIP-검출 region에 대한 별도 배치 일관성 손실)을 우리 트레이너로 이식.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정렬을 잃은 Plan 3 트레이너와 비교 평가.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목표: 과수원 데이터 파인튜닝 중에도 prompt-discrimination을 임계 이상으로 유지.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Direction B — 스케일 적응형 카운팅.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다중 anchor 앙상블: anchor ∈ {4, 8, 16, 24, 32} 병렬 실행 후 점수 통합 + 공동 NMS.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혹은 이미지 통계로부터 anchor 크기를 예측하는 작은 모델 학습.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Direction C — Baseline 인식 카운팅 지표.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MAE - predict-mean, MAE - predict-zero 두 값을 함께 리포트.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왜곡된 카운트 분포에서 "실제 학습"과 "분포 암기"를 구분해 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Direction D — 프롬프트 최적화를 일급 단계로.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파인튜닝 고려 전에 체계적 프롬프트 서치를 수행.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이미지 임베딩에 조건화된 학습형 프롬프트 생성기로 하이브리드화 가능.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향후 진행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Plan 5 (즉시 재개 조건부) — 봉지 과일 데이터 확보 + 기초 검증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작업: 배포 카메라로 봉지 과일 10~30장 재촬영 (현재 샘플은 흰 픽셀로 결함).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작업: 수동 라벨링 — 이미지당 총 개수 + 핵심 샘플은 점 좌표까지.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검증: upstream MLP 기본 설정 + 기본/튜닝 프롬프트로 MAE 측정. Plan 4 범위 내 해결 가능 여부 판정.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6 (조건부) — 정렬 보존 파인튜닝(C3)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진입 조건: Plan 5 검증에서 upstream MAE가 불충분 (예: MAE &gt; 10).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작업: upstream `3_extract_proposals.py`의 pseudo-box 생성 이식.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작업: `cls_loss2` (CLIP 일관성 손실) 로 듀얼 loss 학습 루프 구현.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작업: 과수원 라벨로 점진적 파인튜닝 + prompt-discrimination 모니터링.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7 (선택) — 원래 Plan 4 스펙의 미사용 아이템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Classifier (ResNet18) 학습 — PseCo만으로 부족한 경우 verify 단계 추가.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Super-Resolution 통합 — small crop에서의 classification 개선 여지.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과수원 전용 UI / 결과 시각화 대시보드 (비즈니스 요구 시).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6B6B6B"/>
                </a:solidFill>
              </a:rPr>
              <a:t>Plan 5 시작 선결조건: 실제 봉지 과일 이미지 + 라벨. 그 이전까지는 Plan 4 기본이 프로덕션.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예상 결과 (Target Metrics)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188720"/>
          <a:ext cx="117957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3017520"/>
                <a:gridCol w="3017520"/>
              </a:tblGrid>
              <a:tr h="46862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현재 (Plan 4 기본)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Plan 5 목표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Plan 6 목표 (파인튜닝 후)</a:t>
                      </a:r>
                    </a:p>
                  </a:txBody>
                  <a:tcPr>
                    <a:solidFill>
                      <a:srgbClr val="2E5F8A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과수원 phone 이미지 MAE (4장)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11.75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≤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≤ 5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사과 undercount (GT 46-48)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pred 28-30 (-35%)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pred 35+ (-25%)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pred 42+ (-10%)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배 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3-8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&lt; 5 (유지)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&lt; 3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봉지 과일 MAE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측정 불가(데이터 없음)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≤ 15 (라벨 확보 후)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≤ 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CLIP 프롬프트 감도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upstream 수준 유지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유지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정렬 보존 학습으로 유지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val/mae on FSC-147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파인튜닝 미적용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≤ 20 (upstream 수준)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추론 속도 (RTX 5070)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이미지당 ~2 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유지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A2A2A"/>
                          </a:solidFill>
                        </a:rPr>
                        <a:t>유지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6B6B6B"/>
                </a:solidFill>
              </a:rPr>
              <a:t>모든 숫자는 현 데이터 분포 기반 추정치. 실제 결과는 확보한 봉지 이미지의 품질·다양성에 따라 변동.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진입 조건 및 타임라인 (개략)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Plan 5 진입 조건: 정상적으로 내용물이 있는 봉지 과일 이미지 최소 10장 + 총 개수 라벨.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조건 충족 시 예상 소요: ~1일 (데이터 업로드 0.5시간 + 평가 스크립트 실행 0.5시간 + 결과 분석).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6 진입 조건: Plan 5 결과에서 upstream + 튜닝만으로 MAE 목표 미달.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`cls_loss2` 이식 + pseudo-box 생성 + 학습 루프 재작성: ~3~5일 예상.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실제 파인튜닝 + 검증: 추가 1~2일 (RTX 5070 기준).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Plan 7 진입 조건: PseCo 단독으로 false positive(봉지 아닌 것 카운팅) 가 문제일 때만.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ResNet18 분류기 학습: 라벨된 "봉지 crop" 500장 이상 필요.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전체 일정은 라벨링 속도에 가장 크게 의존. 수작업 라벨링 페이스에 따라 전체 기간 결정.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리스크 및 감지 지표 (학습 중 체크포인트)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리스크 R1 — Plan 5에서 실제 봉지 이미지 품질이 낮음 (흐림, 원거리, 조명 불량).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감지: 진단 툴(`counting diagnose`)의 blur/exposure 분포로 선제 확인.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대응: 촬영 가이드라인 재정립 혹은 이미지 Deblur/SR 전처리 활성화.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리스크 R2 — Plan 6 파인튜닝에서 CLIP 정렬을 다시 잃음 (Plan 3 재현).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감지: 매 N iter마다 prompt-discrimination 점수 (fixed triplet set) 기록.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대응: `cls_loss2` 가중치 상향 / early stopping 기준 강화.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리스크 R3 — 사과 undercount가 SAM 스케일이 아닌 더 깊은 문제 (가림, 색상 유사성).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감지: PointDecoder의 점 수 + IoU(pred_box, visible_apples) 시각화.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대응: 데이터 증강 (rotation, partial occlusion), 혹은 upstream 대신 다른 proposal 생성 방식.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리스크 R4 — GPU 경합 (사용자의 다른 학습과 동시 실행).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감지: `nvidia-smi --query-gpu=memory.used`.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대응: 학습을 순차 실행, 배치 사이즈 동적 조정.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엔지니어링 측면 교훈 (연구는 아니지만 남길 가치 있음)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캐시의 무효화 인식 설계는 시간을 크게 절약함. SAM 피처는 `(ckpt 해시, 이미지 크기, dtype)` 해시로 저장.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모든 ML 파이프라인에 'predict-0' 참조 런을 함께 돌려야 함. 안 그러면 데이터셋 평균 모사에 속아 축하할 수 있음.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모든 체크포인트 안에 설정 스냅샷을 같이 저장할 것. "이 ckpt가 더 이상 로드 안 됨" 순간이 몇 번 있었음.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`slow` 마커 + `skipif(가중치 없음)` 붙은 통합 테스트는 없는 것보단 낫지만 주기적으로 실제로 돌려야 함.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Upstream 레포를 submodule로 받을 땐 "demo.ipynb가 실제로 깨끗이 import되는가"를 20분 안에 점검하고 API surface를 믿을지 결정.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우리 `PseCoStage.prepare()`는 세 Plan 동안 존재하지 않는 모듈을 import하고 있었음.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E5F8A"/>
                </a:solidFill>
              </a:rPr>
              <a:t>참고문헌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A2A2A"/>
                </a:solidFill>
              </a:rPr>
              <a:t>• PseCo — Huang et al., "Point, Segment, and Count: A Generalized Framework for Object Counting", ICLR 2024. github.com/Hzzone/PseCo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SAM — Kirillov et al., "Segment Anything", ICCV 2023. segment-anything.com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CLIP — Radford et al., "Learning Transferable Visual Models From Natural Language Supervision", ICML 2021.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OpenCLIP — Ilharco et al. github.com/mlfoundations/open_clip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FSC-147 — Ranjan et al., "Learning To Count Everything", CVPR 2021. github.com/cvlab-stonybrook/LearningToCountEverything</a:t>
            </a:r>
          </a:p>
          <a:p>
            <a:pPr/>
            <a:r>
              <a:rPr sz="1800">
                <a:solidFill>
                  <a:srgbClr val="2A2A2A"/>
                </a:solidFill>
              </a:rPr>
              <a:t>• 본 프로젝트 — github.com/YBNML/fruit-counting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스펙: docs/superpowers/specs/</a:t>
            </a:r>
          </a:p>
          <a:p>
            <a:pPr lvl="1"/>
            <a:r>
              <a:rPr sz="1500">
                <a:solidFill>
                  <a:srgbClr val="6B6B6B"/>
                </a:solidFill>
              </a:rPr>
              <a:t>– Plan별 구현 기록: docs/superpowers/plans/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