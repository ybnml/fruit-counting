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B5C"/>
                </a:solidFill>
              </a:rPr>
              <a:t>Fruit Counting with PseCo:
A Case Study in CLIP-Aligned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6B6B6B"/>
                </a:solidFill>
              </a:rPr>
              <a:t>Theoretical background + insights from four iterations of training, diagnosis, and production engineering on orchard imagery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B6B6B"/>
                </a:solidFill>
              </a:rPr>
              <a:t>Internal research notes · 2026-04-22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B6B6B"/>
                </a:solidFill>
              </a:rPr>
              <a:t>Part 1</a:t>
            </a:r>
          </a:p>
          <a:p>
            <a:r>
              <a:rPr sz="3600" b="1">
                <a:solidFill>
                  <a:srgbClr val="1F3B5C"/>
                </a:solidFill>
              </a:rPr>
              <a:t>Problem · Architecture · Theory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E5F8A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A2A2A"/>
                </a:solidFill>
              </a:rPr>
              <a:t>• Goal: count protective-bagged fruits in orchard photos from a deploy camera.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Original code path: 5-stage pipeline (Deblur → PseCo → Super-Resolution → Classifier → Defect).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Each stage was a thin wrapper around an external model — inference-only.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No training code, no labeled orchard data, no systematic evaluation.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Our task: redesign + add training + validate on real orchard imagery.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Core research question: can an open-world counting model be domain-adapted without sacrificing generality?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B6B6B"/>
                </a:solidFill>
              </a:rPr>
              <a:t>Spec: docs/superpowers/specs/2026-04-19-fruit-counting-redesign-design.md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E5F8A"/>
                </a:solidFill>
              </a:rPr>
              <a:t>Theoretical Components (1/3) — SAM (Segment Anything Model)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A2A2A"/>
                </a:solidFill>
              </a:rPr>
              <a:t>• Meta AI, 2023. Foundation model for class-agnostic segmentation.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ViT-H image encoder: 1024×1024 input → (256, 64, 64) feature map.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Promptable mask decoder: accepts points / boxes / text as prompts.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Trained on 1B+ masks (SA-1B). Strong generalization to unseen domains.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For counting: SAM provides object proposals given a candidate point.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`forward_sam_with_embeddings(features, points=...)` returns k=5 plausible masks per point.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Anchor boxes (point ± half_side) refine the mask hypotheses.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Key property: SAM doesn't know WHAT an object is — only where an object-like blob 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E5F8A"/>
                </a:solidFill>
              </a:rPr>
              <a:t>Theoretical Components (2/3) — CLIP Text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A2A2A"/>
                </a:solidFill>
              </a:rPr>
              <a:t>• OpenAI, 2021. Image encoder + text encoder jointly trained on 400M (image, caption) pairs.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Text encoder maps class name → 512-dim embedding (for ViT-B/32 backbone).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Image encoder maps crops to the same 512-dim space.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Zero-shot classification via cosine similarity in shared space.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In PseCo: the ROIHeadMLP's 512-dim output is compared against CLIP text features as the classifier.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dot(ROI_feature, text_feature) → score. Higher = matches the class name.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Subtle point: OpenAI CLIP weights were trained with QuickGELU activation, not standard GELU.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`open_clip.create_model('ViT-B-32')` defaults to standard GELU → text features drift silently.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Must use `'ViT-B-32-quickgelu'` variant. We learned this the hard way in Plan 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E5F8A"/>
                </a:solidFill>
              </a:rPr>
              <a:t>Theoretical Components (3/3) — PseCo Pipeline (ICLR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A2A2A"/>
                </a:solidFill>
              </a:rPr>
              <a:t>• "Point, Segment, Count" (Huang et al., 2024).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Three-stage inference on cached SAM features: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PointDecoder: dense heatmap → top-K candidate points (post-NMS).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SAM-as-proposal: for each point, SAM emits 5 mask/box hypotheses (varying anchor sizes).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ROIHeadMLP + CLIP: score each (region, text) pair → NMS → threshold.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Why it works for counting: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Class-agnostic SAM handles novel domains (orchard) without retraining its encoder.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Text prompt decides what to count — no re-training needed to switch from "apples" to "bread rolls".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Decoupling: localization (SAM + PointDecoder) is shared; classification (MLP + CLIP) is swappable.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Training target in upstream: BCE on pseudo-box IoU + CLIP-consistency loss (preserves alignment).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B6B6B"/>
                </a:solidFill>
              </a:rPr>
              <a:t>github.com/Hzzone/PseCo — reports MAE 16–20 on FSC-147 test split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B6B6B"/>
                </a:solidFill>
              </a:rPr>
              <a:t>Part 2</a:t>
            </a:r>
          </a:p>
          <a:p>
            <a:r>
              <a:rPr sz="3600" b="1">
                <a:solidFill>
                  <a:srgbClr val="1F3B5C"/>
                </a:solidFill>
              </a:rPr>
              <a:t>Four Iterations on FSC-147 + Orchard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E5F8A"/>
                </a:solidFill>
              </a:rPr>
              <a:t>Our Plan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A2A2A"/>
                </a:solidFill>
              </a:rPr>
              <a:t>• Plan 1 (Foundation): scaffolding, CLI, config, data diagnostics. No training.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Plan 2 (Training infrastructure): SAM feature cache (8.7 GB fp16 for 4945 FSC-147 images), Runner, TensorBoard, checkpoints. Placeholder objective.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Plan 3 (First real fine-tune): CLIP text prompts + pos/neg labels from box-point containment.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Three bugs caught: CUDA device mismatch, coordinate-system mismatch, QuickGELU variant mismatch.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Final FSC-147 val/mae = 47.62 with K=32 proposals. Beat 'predict-zero' baseline of 50.58.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Looked like a success at this point.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Plan 4 (Orchard reality check): four hand-counted orchard images exposed Plan 3's hidden failure.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Pivoted to upstream MLP + prompt engineering + SAM anchor tuning.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Final orchard MAE = 11.75 without any fine-tuning.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E5F8A"/>
                </a:solidFill>
              </a:rPr>
              <a:t>Iteration-by-Iteration 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88720"/>
          <a:ext cx="108813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194560"/>
                <a:gridCol w="2468880"/>
                <a:gridCol w="3108960"/>
              </a:tblGrid>
              <a:tr h="4622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FSC-147 val/mae</a:t>
                      </a:r>
                    </a:p>
                  </a:txBody>
                  <a:tcPr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Orchard MAE (4 imgs)</a:t>
                      </a:r>
                    </a:p>
                  </a:txBody>
                  <a:tcPr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Takeaway</a:t>
                      </a:r>
                    </a:p>
                  </a:txBody>
                  <a:tcPr>
                    <a:solidFill>
                      <a:srgbClr val="2E5F8A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Plan 2 (placeholder)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50.58 (deg.)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degenerate: predicts 0 always</a:t>
                      </a:r>
                    </a:p>
                  </a:txBody>
                  <a:tcPr/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Plan 3 v1 (no fix)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62.90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coord-system bug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Plan 3 v2 (+ QuickGELU)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62.79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marginal</a:t>
                      </a:r>
                    </a:p>
                  </a:txBody>
                  <a:tcPr/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Plan 3 v3 (+ coord fix)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54.26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coord fix dominant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Plan 3 v4 (K=32)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47.62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400+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prompt-agnostic in prod</a:t>
                      </a:r>
                    </a:p>
                  </a:txBody>
                  <a:tcPr/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Plan 4 upstream MLP (default)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14.25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zero training, still competitive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Plan 4 + threshold tune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13.50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small grid-search gain</a:t>
                      </a:r>
                    </a:p>
                  </a:txBody>
                  <a:tcPr/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Plan 4 + anchor_size=24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11.75 ⭐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</a:rPr>
                        <a:t>scale matters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B6B6B"/>
                </a:solidFill>
              </a:rPr>
              <a:t>Part 3</a:t>
            </a:r>
          </a:p>
          <a:p>
            <a:r>
              <a:rPr sz="3600" b="1">
                <a:solidFill>
                  <a:srgbClr val="1F3B5C"/>
                </a:solidFill>
              </a:rPr>
              <a:t>Insights from the Failure Modes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E5F8A"/>
                </a:solidFill>
              </a:rPr>
              <a:t>Insight 1 — "Predict Zero" is a Deceptive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A2A2A"/>
                </a:solidFill>
              </a:rPr>
              <a:t>• On count datasets, predicting 0 for every image gives MAE = E[GT count].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For FSC-147 val, mean GT count ≈ 50.58.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Plan 2's placeholder trainer produced `val/mae = 50.58` constant across epochs.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Naive reading: "training is stuck at a non-trivial loss". True reading: model is collapsed.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Plan 3 produced `val/mae = 47.62` — only marginally better than zero-prediction.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We celebrated this as beating baseline; it was actually still ~93% of the zero-prediction error.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Research implication: for counting tasks, report MAE relative to predict-zero AND relative to predict-mean.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A model that beats predict-zero but not predict-mean is probably memorizing the dataset mean.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A convergence metric should subtract that trivial baseline explicitly.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E5F8A"/>
                </a:solidFill>
              </a:rPr>
              <a:t>Insight 2 — CLIP Alignment is Fragile Under Naive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A2A2A"/>
                </a:solidFill>
              </a:rPr>
              <a:t>• Plan 3 training: one class per image, binary cross-entropy on (positive / negative) proposal labels.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Result: fine-tuned MLP became prompt-agnostic.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`apples`, `apple in paper bag`, `protective fruit bag` all produced ~500 predictions on same apple image.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Upstream MLP in contrast distinguishes: 6 / 25 / 8 on the same image.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Mechanism: binary CE with only one active class drives the head to ignore text features.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Gradient only penalizes 'visual feature says positive/negative', never 'text agrees/disagrees'.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CLIP alignment in the pretrained weights slowly decays during fine-tuning.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Upstream PseCo's training uses a secondary CLIP consistency loss (`cls_loss2`) — we skipped this.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Research question: can we quantify CLIP alignment loss during fine-tuning and stop early?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Candidate metric: prompt-discrimination score on a held-out triplet (image, correct class, wrong class).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E5F8A"/>
                </a:solidFill>
              </a:rPr>
              <a:t>Insight 3 — Coordinate-System Bugs Silently Waste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A2A2A"/>
                </a:solidFill>
              </a:rPr>
              <a:t>• Plan 3 labels came from FSC-147 point annotations in original image space (longest side = 384 px).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PointDecoder predictions came from SAM's 1024-px padded space.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Box-point containment check compared them as if they were in the same coordinate frame.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Almost no containment hits. Nearly all proposals labeled negative.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Symptom: training loss went down (easy to say 'all negative'), val/mae stuck at 62–63.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A bug that SAVES MONEY on loss by making the problem trivially learnable.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Fix: scale GT points to 1024 space via `1024 / max(H, W)`. Single commit, val/mae dropped 62.79 → 54.26.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Research-engineering lesson: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Multi-module pipelines mix coordinate frames silently. Write a single test that asserts frame equality.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"Losses going down" alone is NEVER evidence of correctness.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E5F8A"/>
                </a:solidFill>
              </a:rPr>
              <a:t>Insight 4 — QuickGELU vs GELU: a 0.3% Activation Difference with 100% Semantic Drift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A2A2A"/>
                </a:solidFill>
              </a:rPr>
              <a:t>• OpenAI's original CLIP was trained with QuickGELU: `x * sigmoid(1.702 * x)`.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`open_clip.create_model('ViT-B-32', pretrained='openai')` defaults to standard GELU.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Text embeddings change by only ~2% in L2 distance.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But the fine-tuned MLP head, trained in downstream tasks against the QuickGELU-derived embeddings, is spec-mismatched.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Upstream PseCo's `MLP_small_box_w1_zeroshot.tar` was trained with QuickGELU CLIP features.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We loaded it against standard-GELU features for 2 training runs before spotting the warning.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Fixing this alone was not enough to recover CLIP alignment (see Insight 2), but it is a necessary condition.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Research-engineering lesson: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Treat activation-variant tags in pretrained models as semver-breaking. Document them in checkpoints.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E5F8A"/>
                </a:solidFill>
              </a:rPr>
              <a:t>Insight 5 — SAM Anchor Size Must Match Object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A2A2A"/>
                </a:solidFill>
              </a:rPr>
              <a:t>• PseCo's inference uses anchor boxes (point ± half_side) as prompts for SAM's box-refinement head.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Upstream demo: anchor_size = 8 on 1024-padded input (implies ~8 px half-side, ~16 px full side).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Fine for FSC-147 where images are 384 longest side — objects are ~10–30 px.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Breaks on phone-taken orchard photos where objects span ~80–120 px in 1024 space.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Grid search over {4, 8, 12, 16, 24, 32}: apple detection monotone-improves with larger anchors up to ~24.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apple_1 (GT 48): 22 → 28 predictions as anchor goes 8 → 24.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Pears (smaller relative scale) unchanged.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Why SAM is scale-sensitive here: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SAM was trained to segment from prompts that are INSIDE the object. Small anchors around a correct point still lie inside apples, but the mask-decoder's best hypothesis matches the anchor's scale.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Research question: scale-adaptive anchor ensembles? Multi-scale voting?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E5F8A"/>
                </a:solidFill>
              </a:rPr>
              <a:t>Insight 6 — Prompt Engineering Can Replace Fine-tuning When Fine-tuning Would Break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A2A2A"/>
                </a:solidFill>
              </a:rPr>
              <a:t>• On orchard images, upstream MLP MAE by prompt: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`pears` → 35.0 · `pear in paper bag` → 6.0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`apples` → 42.5 · `apple in paper bag` → 22.5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`protective fruit bag` → 40.0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A three-word prompt change saves ~30 MAE points on pears. No retraining required.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Mechanism: CLIP's text encoder captures compositional semantics (fruit-class × environment).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"apple in paper bag" activates BOTH the apple cluster and the packaging context.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"apples" alone activates the apple cluster — less specific → overshoots on wide scenes.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Implication: for class-agnostic counting pipelines, prompt search should be the FIRST intervention, not fine-tuning.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Fine-tuning risks CLIP alignment loss; prompt search is free and reversible.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B6B6B"/>
                </a:solidFill>
              </a:rPr>
              <a:t>Part 4</a:t>
            </a:r>
          </a:p>
          <a:p>
            <a:r>
              <a:rPr sz="3600" b="1">
                <a:solidFill>
                  <a:srgbClr val="1F3B5C"/>
                </a:solidFill>
              </a:rPr>
              <a:t>Open Questions · Future Work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E5F8A"/>
                </a:solidFill>
              </a:rPr>
              <a:t>What We Could Not Answer in This Sprint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2562D"/>
                </a:solidFill>
              </a:rPr>
              <a:t>Data-dependent</a:t>
            </a:r>
          </a:p>
          <a:p>
            <a:pPr/>
            <a:r>
              <a:rPr sz="1400">
                <a:solidFill>
                  <a:srgbClr val="2A2A2A"/>
                </a:solidFill>
              </a:rPr>
              <a:t>• How well does our default pipeline work on actual protective-bag imagery?</a:t>
            </a:r>
          </a:p>
          <a:p>
            <a:pPr lvl="1"/>
            <a:r>
              <a:rPr sz="1200">
                <a:solidFill>
                  <a:srgbClr val="6B6B6B"/>
                </a:solidFill>
              </a:rPr>
              <a:t>– The captures we had were blank JPEGs (all pixels = 255).</a:t>
            </a:r>
          </a:p>
          <a:p>
            <a:pPr/>
            <a:r>
              <a:rPr sz="1400">
                <a:solidFill>
                  <a:srgbClr val="2A2A2A"/>
                </a:solidFill>
              </a:rPr>
              <a:t>• Domain-specific labels: we have none. 50 hand-counted images would be enough for a proper MAE curve.</a:t>
            </a:r>
          </a:p>
          <a:p>
            <a:pPr/>
            <a:r>
              <a:rPr sz="1400">
                <a:solidFill>
                  <a:srgbClr val="2A2A2A"/>
                </a:solidFill>
              </a:rPr>
              <a:t>• Is the remaining apple undercount (GT ~47, pred ~30) a SAM-scale problem or a CLIP-semantics problem?</a:t>
            </a:r>
          </a:p>
          <a:p>
            <a:pPr lvl="1"/>
            <a:r>
              <a:rPr sz="1200">
                <a:solidFill>
                  <a:srgbClr val="6B6B6B"/>
                </a:solidFill>
              </a:rPr>
              <a:t>– Needs multi-scale anchor ensemble ablation.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2562D"/>
                </a:solidFill>
              </a:rPr>
              <a:t>Theory-dependent</a:t>
            </a:r>
          </a:p>
          <a:p>
            <a:pPr/>
            <a:r>
              <a:rPr sz="1400">
                <a:solidFill>
                  <a:srgbClr val="2A2A2A"/>
                </a:solidFill>
              </a:rPr>
              <a:t>• Can we preserve CLIP alignment during fine-tuning with a single auxiliary loss?</a:t>
            </a:r>
          </a:p>
          <a:p>
            <a:pPr lvl="1"/>
            <a:r>
              <a:rPr sz="1200">
                <a:solidFill>
                  <a:srgbClr val="6B6B6B"/>
                </a:solidFill>
              </a:rPr>
              <a:t>– PseCo's `cls_loss2` is one candidate — an offline CLIP-region consistency term.</a:t>
            </a:r>
          </a:p>
          <a:p>
            <a:pPr lvl="1"/>
            <a:r>
              <a:rPr sz="1200">
                <a:solidFill>
                  <a:srgbClr val="6B6B6B"/>
                </a:solidFill>
              </a:rPr>
              <a:t>– Could a simpler text-prompt-discrimination loss work?</a:t>
            </a:r>
          </a:p>
          <a:p>
            <a:pPr/>
            <a:r>
              <a:rPr sz="1400">
                <a:solidFill>
                  <a:srgbClr val="2A2A2A"/>
                </a:solidFill>
              </a:rPr>
              <a:t>• Scale-adaptive proposal generation — currently manual anchor tuning per domain.</a:t>
            </a:r>
          </a:p>
          <a:p>
            <a:pPr/>
            <a:r>
              <a:rPr sz="1400">
                <a:solidFill>
                  <a:srgbClr val="2A2A2A"/>
                </a:solidFill>
              </a:rPr>
              <a:t>• Is there a principled metric for "CLIP alignment retained after fine-tuning"?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E5F8A"/>
                </a:solidFill>
              </a:rPr>
              <a:t>Suggested Research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A2A2A"/>
                </a:solidFill>
              </a:rPr>
              <a:t>• Direction A — Alignment-preserving fine-tuning.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Port PseCo's `cls_loss2` (CLIP-consistency on separate batches of CLIP-detected regions).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Evaluate against our Plan 3 trainer, which lost alignment.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Target: fine-tune on orchard data while keeping prompt-discrimination &gt; threshold.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Direction B — Scale-adaptive counting.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Multi-anchor ensemble: run SAM with anchors ∈ {4, 8, 16, 24, 32}, aggregate scores, NMS jointly.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Or learn a tiny anchor-size predictor from image statistics.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Direction C — Baseline-aware counting metrics.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Report MAE minus 'predict mean' and MAE minus 'predict zero' jointly.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Helps distinguish real learning from distribution memorization on skewed count datasets.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Direction D — Prompt optimization as a first-class step.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Systematic prompt search before any fine-tuning is considered.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A learned prompt-generator conditioned on image embedding could hybridize this.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E5F8A"/>
                </a:solidFill>
              </a:rPr>
              <a:t>Engineering Takeaways (Non-Research but Worth Keeping)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A2A2A"/>
                </a:solidFill>
              </a:rPr>
              <a:t>• Invalidation-aware caches save hours: SAM features cached with `(ckpt_hash, image_size, dtype)` hash.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Every ML pipeline should have a 'predict-0' reference run; otherwise you may celebrate dataset-mean imitation.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Save a config snapshot INSIDE every checkpoint. We had several "this ckpt no longer loads" moments.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Integration tests marked `slow` with `skipif(weights_missing)` are better than no tests — but they need to actually run in CI at least weekly.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When adopting an upstream repo as a submodule, write a 20-minute 'does `demo.ipynb` actually import cleanly' check before trusting the API surface.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Our `PseCoStage.prepare()` had an import of a non-existent module for three plans.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E5F8A"/>
                </a:solidFill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A2A2A"/>
                </a:solidFill>
              </a:rPr>
              <a:t>• PseCo — Huang et al., "Point, Segment, and Count: A Generalized Framework for Object Counting", ICLR 2024. github.com/Hzzone/PseCo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SAM — Kirillov et al., "Segment Anything", ICCV 2023. segment-anything.com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CLIP — Radford et al., "Learning Transferable Visual Models From Natural Language Supervision", ICML 2021.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OpenCLIP — Ilharco et al. github.com/mlfoundations/open_clip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FSC-147 — Ranjan et al., "Learning To Count Everything", CVPR 2021. github.com/cvlab-stonybrook/LearningToCountEverything</a:t>
            </a:r>
          </a:p>
          <a:p>
            <a:pPr/>
            <a:r>
              <a:rPr sz="1800">
                <a:solidFill>
                  <a:srgbClr val="2A2A2A"/>
                </a:solidFill>
              </a:rPr>
              <a:t>• This project — github.com/YBNML/fruit-counting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Specs under docs/superpowers/specs/</a:t>
            </a:r>
          </a:p>
          <a:p>
            <a:pPr lvl="1"/>
            <a:r>
              <a:rPr sz="1500">
                <a:solidFill>
                  <a:srgbClr val="6B6B6B"/>
                </a:solidFill>
              </a:rPr>
              <a:t>– Per-plan implementation logs under docs/superpowers/plans/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